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0AEB6">
              <a:alpha val="12000"/>
            </a:srgbClr>
          </a:solidFill>
          <a:ln w="12700">
            <a:solidFill>
              <a:srgbClr val="00AEB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657600"/>
            <a:ext cx="3200400" cy="3200400"/>
          </a:xfrm>
          <a:prstGeom prst="ellipse">
            <a:avLst/>
          </a:prstGeom>
          <a:solidFill>
            <a:srgbClr val="00AEB6">
              <a:alpha val="8000"/>
            </a:srgbClr>
          </a:solidFill>
          <a:ln w="12700">
            <a:solidFill>
              <a:srgbClr val="00AEB6">
                <a:alpha val="8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84048"/>
            <a:ext cx="2011680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AEB6"/>
                </a:solidFill>
              </a:rPr>
              <a:t>APRESENTAÇÃO COMERCIAL ·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Onde sua operação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trava, a PIXT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</a:rPr>
              <a:t>automatiza.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02920" y="431596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Redesenhamos processos comerciais e operacionais com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Inteligência Artificial de ponta a ponta — do atendimento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até a entrega, sem gargalos, sem erros, sem desperdício.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5577840"/>
            <a:ext cx="2743200" cy="5303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5778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Comece a transformação →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8961120" y="137160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O QUE VAMOS VER HOJE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Agenda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864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88720" y="1444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 Custo Real da Inação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Por que processos manuais estão destruindo sua margem em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331720"/>
            <a:ext cx="54864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88720" y="2359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Quem é a PIXT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Nossa história, filosofia e o que nos torna diferentes do mercado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246120"/>
            <a:ext cx="54864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88720" y="3273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Os 3 Pilares de Entrega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566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Diagnóstico → Agentes Autônomos → Orquestração total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160520"/>
            <a:ext cx="54864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88720" y="4187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Nossas Soluções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Vendas+, LeadFlow, Booker, ExpertAI e Automações Personalizadas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5074920"/>
            <a:ext cx="54864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5120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88720" y="5102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Próximos Passos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88720" y="5394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Oferta, resultados esperados e como começar hoje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686800" y="1371600"/>
            <a:ext cx="3017520" cy="502920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68680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EB6"/>
                </a:solidFill>
              </a:rPr>
              <a:t>40 min.</a:t>
            </a:r>
            <a:endParaRPr lang="en-US" sz="4200" dirty="0"/>
          </a:p>
        </p:txBody>
      </p:sp>
      <p:sp>
        <p:nvSpPr>
          <p:cNvPr id="28" name="Text 25"/>
          <p:cNvSpPr/>
          <p:nvPr/>
        </p:nvSpPr>
        <p:spPr>
          <a:xfrm>
            <a:off x="8686800" y="2971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de conteúdo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altamente conversivo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235440" y="3931920"/>
            <a:ext cx="1920240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7824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94A8C4"/>
                </a:solidFill>
              </a:rPr>
              <a:t>Sem enrolação.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94A8C4"/>
                </a:solidFill>
              </a:rPr>
              <a:t>Sem promessas vazias.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94A8C4"/>
                </a:solidFill>
              </a:rPr>
              <a:t>Apenas soluções reais.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3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AEB6"/>
                </a:solidFill>
              </a:rPr>
              <a:t>A REALIDADE DE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"Em 2026, empresas que dependem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de processos manuais para tarefas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repetitivas não são apenas lentas —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elas são financeiramente inviáveis."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466344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94A8C4"/>
                </a:solidFill>
              </a:rPr>
              <a:t>A concorrência que automatizou já está capturando</a:t>
            </a:r>
            <a:endParaRPr lang="en-US" sz="14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94A8C4"/>
                </a:solidFill>
              </a:rPr>
              <a:t>clientes que deveriam ser seus. Hoje.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PIXT — Orquestração de Ponta a Ponta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O MERCADO NÃO ESPERA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A automação com IA chegou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para ficar — e os números comprovam.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394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691640"/>
            <a:ext cx="73152" cy="19202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947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B6"/>
                </a:solidFill>
              </a:rPr>
              <a:t>US$ 4,7Bi+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85800" y="27157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investidos em IA na América Latina em 2025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264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IDC 2025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94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91640"/>
            <a:ext cx="73152" cy="19202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947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B6"/>
                </a:solidFill>
              </a:rPr>
              <a:t>60–80%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446520" y="27157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de redução no tempo de processamento com automação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46520" y="3264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McKinsey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2920" y="3977640"/>
            <a:ext cx="5394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" y="3977640"/>
            <a:ext cx="73152" cy="19202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233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B6"/>
                </a:solidFill>
              </a:rPr>
              <a:t>4–6 meses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85800" y="50017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para o ROI aparecer após implementação de IA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" y="5550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Mind Group BR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263640" y="3977640"/>
            <a:ext cx="539496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977640"/>
            <a:ext cx="73152" cy="19202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4233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B6"/>
                </a:solidFill>
              </a:rPr>
              <a:t>45%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446520" y="50017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dos investimentos em IA da LatAm estão no Brasil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5550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IDC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5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01 · O CUSTO DA INAÇÃO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Quanto está custando sua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ineficiência operacional?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73736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8288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✗  Retrabalho e erros manuais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Cada erro cometido por um processo manual custa em média 3x o valor da tarefa original.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852928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852928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44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✗  Tempo perdido em tarefas repetitivas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2644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Equipes comerciais gastam até 40% do tempo em atividades que não geram receita direta.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968496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3968496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0599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✗  Gargalos no comercial → queda de vendas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37997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Leads sem follow-up a tempo esfriiam. Oportunidades perdidas viram concorrência ganha.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084064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084064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517550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✗  Escala impossível sem contratar mais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549554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Para dobrar o faturamento, a maioria das empresas dobra o headcount — e a folha de pagamento.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06640" y="1691640"/>
            <a:ext cx="4297680" cy="484632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498080" y="19202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Se sua empresa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fatura R$100k/mês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e gasta 30% em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8C4"/>
                </a:solidFill>
              </a:rPr>
              <a:t>processos manuais…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0" y="3474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EB6"/>
                </a:solidFill>
              </a:rPr>
              <a:t>R$30.000</a:t>
            </a:r>
            <a:endParaRPr lang="en-US" sz="4200" dirty="0"/>
          </a:p>
        </p:txBody>
      </p:sp>
      <p:sp>
        <p:nvSpPr>
          <p:cNvPr id="25" name="Text 22"/>
          <p:cNvSpPr/>
          <p:nvPr/>
        </p:nvSpPr>
        <p:spPr>
          <a:xfrm>
            <a:off x="7498080" y="4297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 mês jogados fora.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98080" y="4754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R$360.000 / ano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498080" y="5193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8C4"/>
                </a:solidFill>
              </a:rPr>
              <a:t>que poderiam virar lucro.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55280" y="5715000"/>
            <a:ext cx="3200400" cy="45720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5715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Isso é o que a PIXT devolve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6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A ESCOLHA QUE DEFINE 2026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Dois caminhos.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Apenas um tem futuro.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394960" cy="4389120"/>
          </a:xfrm>
          <a:prstGeom prst="rect">
            <a:avLst/>
          </a:prstGeom>
          <a:solidFill>
            <a:srgbClr val="160C0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011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Continuar como está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Folha de pagamento crescendo com o negócio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Erros manuais gerando retrabalho e perda de clientes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Leads esfriando enquanto o time está ocupado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Sem dados confiáveis para tomar decisões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Impossível escalar sem contratar mais pessoas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5120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9999"/>
                </a:solidFill>
              </a:rPr>
              <a:t>✗  Concorrência automatizada roubando mercado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91072" y="1828800"/>
            <a:ext cx="5394960" cy="4389120"/>
          </a:xfrm>
          <a:prstGeom prst="rect">
            <a:avLst/>
          </a:prstGeom>
          <a:solidFill>
            <a:srgbClr val="162847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2512" y="2011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EB6"/>
                </a:solidFill>
              </a:rPr>
              <a:t>Com a PIXT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Agentes trabalhando 24/7 sem custo adicional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0" y="3108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Zero erros: automação com precisão de 100%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Follow-up automático em tempo real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0" y="4114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Dados centralizados e histórico íntegro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Escala 10x sem aumentar o headcount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00800" y="5120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FFD6"/>
                </a:solidFill>
              </a:rPr>
              <a:t>+ Você na frente enquanto outros tentam acompanhar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E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7 / 30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008A90"/>
                </a:solidFill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Quem é a PIXT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4069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3E42"/>
                </a:solidFill>
              </a:rPr>
              <a:t>Nossa história, filosofia e o que nos torna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3E42"/>
                </a:solidFill>
              </a:rPr>
              <a:t>completamente diferentes do mercado.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8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02 · QUEM SOMOS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 origem da PIXT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8660" y="1984248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149961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Agência de Marketing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8288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Três sócios trabalhando juntos, atendendo dezenas de clientes de diferentes setores.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743200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8660" y="3218688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27340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Problema Visível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" y="306324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Observamos que a maioria dos nossos clientes tinha processos comerciais e operacionais completamente desorganizados — gargalos que impediam crescimento.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977640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8660" y="4453128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43000" y="39684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Boom da IA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42976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Em 2024-2025, todas as empresas queriam implementar IA, mas ninguém sabia por onde começar ou como conectar a tecnologia ao negócio real.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5212080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5212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520293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Nascimento da PIXT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55321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Nascemos para ser a ponte: não vendemos ferramentas isoladas. Construímos a infraestrutura de escala que o seu negócio precisa.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772400" y="1417320"/>
            <a:ext cx="3931920" cy="493776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6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1828800"/>
            <a:ext cx="3017520" cy="8046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6384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AEB6"/>
                </a:solidFill>
              </a:rPr>
              <a:t>"Next Pixel"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86384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O nome carrega um significado: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o próximo passo na evolução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da gestão empresarial.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321040" y="4572000"/>
            <a:ext cx="2834640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63840" y="4754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94A8C4"/>
                </a:solidFill>
              </a:rPr>
              <a:t>Fundada por 3 profissionais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94A8C4"/>
                </a:solidFill>
              </a:rPr>
              <a:t>de marketing digital com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94A8C4"/>
                </a:solidFill>
              </a:rPr>
              <a:t>experiência real de mercado.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9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02 · FILOSOFIA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O que nos move — e o que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nos diferencia do mercado.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3949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828800"/>
            <a:ext cx="5394960" cy="731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084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Pragmática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4871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Focada em métricas reais: ROI, tempo economizado, redução de erros. Sem discursos motivacionais — só resultados.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828800"/>
            <a:ext cx="5394960" cy="731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084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Visionária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4871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Utilizamos a tecnologia mais moderna disponível. Não soluções de prateleira, mas arquiteturas construídas para o seu negócio.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069080"/>
            <a:ext cx="53949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4069080"/>
            <a:ext cx="5394960" cy="731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325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Segura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" y="472744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Transmitimos confiança real. Nossa tecnologia é robusta, não é promessa de IA. É execução comprovada.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4069080"/>
            <a:ext cx="539496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4069080"/>
            <a:ext cx="5394960" cy="731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4325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Anti-bullshit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46520" y="472744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Viemos do marketing e fomos expostos a promessas vazias. A PIXT é o oposto: foco total no problema e no caminho mais curto para resolvê-lo.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10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02 · POSICIONAMENTO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 mercado vende bots.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Nós entregamos escala.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83112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984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Quando falamos de…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023360" y="19842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Outros dizem…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1984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A PIXT diz…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624328"/>
            <a:ext cx="11183112" cy="658368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7340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Tecnologia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3360" y="27340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99"/>
                </a:solidFill>
              </a:rPr>
              <a:t>"Nossa IA usa GPT-X"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27340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FD6"/>
                </a:solidFill>
              </a:rPr>
              <a:t>"Entendemos o contexto do seu negócio"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374136"/>
            <a:ext cx="11183112" cy="65836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4838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23360" y="34838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99"/>
                </a:solidFill>
              </a:rPr>
              <a:t>"Somos a solução mais barata"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0" y="3483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FD6"/>
                </a:solidFill>
              </a:rPr>
              <a:t>"Somos um investimento inteligente"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123944"/>
            <a:ext cx="11183112" cy="658368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233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Implementação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23360" y="42336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99"/>
                </a:solidFill>
              </a:rPr>
              <a:t>"Vai levar tempo para configurar"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80960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FD6"/>
                </a:solidFill>
              </a:rPr>
              <a:t>"Integramos ao seu fluxo sem interrupções"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4873752"/>
            <a:ext cx="11183112" cy="658368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983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Gargalos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23360" y="4983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99"/>
                </a:solidFill>
              </a:rPr>
              <a:t>"Temos robôs para ajudar"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80960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FD6"/>
                </a:solidFill>
              </a:rPr>
              <a:t>"Eliminamos os pontos de fricção"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5623560"/>
            <a:ext cx="11183112" cy="658368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5733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Escalabilidade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023360" y="5733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9999"/>
                </a:solidFill>
              </a:rPr>
              <a:t>"Automatizamos tarefas"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680960" y="5733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FFD6"/>
                </a:solidFill>
              </a:rPr>
              <a:t>"Construímos infraestrutura de escala"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11 / 30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62847"/>
                </a:solidFill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Os 3 Pilares de Entrega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86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AEB6"/>
                </a:solidFill>
              </a:rPr>
              <a:t>A metodologia que transforma o caos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AEB6"/>
                </a:solidFill>
              </a:rPr>
              <a:t>em um fluxo previsível e lucrativo.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892040"/>
            <a:ext cx="2743200" cy="50292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892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01  Diagnóstico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4892040"/>
            <a:ext cx="2743200" cy="5029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892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02  Agentes Autônomos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4892040"/>
            <a:ext cx="2743200" cy="50292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4892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03  Orquestração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12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03 · PILAR 1 DE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486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Diagnóstico e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Arquitetura de Processos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64748B"/>
                </a:solidFill>
              </a:rPr>
              <a:t>Antes da tecnologia, vem a estratégia.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64748B"/>
                </a:solidFill>
              </a:rPr>
              <a:t>Automatizar um processo quebrado apenas acelera o erro.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450592"/>
            <a:ext cx="6675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5328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●  Mapear o Fluxo Atual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Identificamos como o processo atual funciona, onde os dados se perdem e onde a equipe perde tempo.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3474720"/>
            <a:ext cx="6675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355701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●  Identificar Gargalos Ocultos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9044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Expusemos falhas de comunicação entre marketing, comercial e operacional que impedem vendas ou entregas.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4498848"/>
            <a:ext cx="6675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458114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●  Desenhar a Nova Rota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49286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Criamos um fluxo de trabalho otimizado onde a interação humana e a IA se complementam perfeitamente.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" y="5522976"/>
            <a:ext cx="6675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" y="56052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●  Implementar com Precisão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85800" y="59527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tecnologia entra apenas onde ela entrega valor real. Sem exageros, sem complexidade desnecessária.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89520" y="1417320"/>
            <a:ext cx="4114800" cy="507492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AEB6"/>
                </a:solidFill>
              </a:rPr>
              <a:t>" "</a:t>
            </a:r>
            <a:endParaRPr lang="en-US" sz="8000" dirty="0"/>
          </a:p>
        </p:txBody>
      </p:sp>
      <p:sp>
        <p:nvSpPr>
          <p:cNvPr id="21" name="Text 18"/>
          <p:cNvSpPr/>
          <p:nvPr/>
        </p:nvSpPr>
        <p:spPr>
          <a:xfrm>
            <a:off x="777240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Muitas empresas tentam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automatizar processos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que já estão quebrados.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Isso só acelera o erro.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772400" y="4709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AEB6"/>
                </a:solidFill>
              </a:rPr>
              <a:t>A PIXT mapeia antes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AEB6"/>
                </a:solidFill>
              </a:rPr>
              <a:t>de implementar.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13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03 · PILAR 2 DE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Agentes Autônomos de Execução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29844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Não contratamos mais pessoas para tarefas repetitivas. Implementamos agentes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construídos com a lógica do seu negócio — não modelos de prateleira.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212848"/>
            <a:ext cx="530352" cy="530352"/>
          </a:xfrm>
          <a:prstGeom prst="ellipse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25880" y="2267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Ingestão e Contexto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85800" y="2834640"/>
            <a:ext cx="5029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Leem e entendem dados de qualquer fonte: e-mails, PDFs, mensagens, planilhas e sistemas.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201168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212848"/>
            <a:ext cx="530352" cy="530352"/>
          </a:xfrm>
          <a:prstGeom prst="ellipse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2267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Lógica Decisória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46520" y="2834640"/>
            <a:ext cx="5029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Não apenas respondem — decidem o próximo passo com base nas regras do seu negócio.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425196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" y="4453128"/>
            <a:ext cx="530352" cy="530352"/>
          </a:xfrm>
          <a:prstGeom prst="ellipse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453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325880" y="4507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Execução Transacional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85800" y="5074920"/>
            <a:ext cx="5029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Agem. Entram em sistemas, preenchem campos, disparam gatilhos, criam documentos em tempo real.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6520" y="4453128"/>
            <a:ext cx="530352" cy="530352"/>
          </a:xfrm>
          <a:prstGeom prst="ellipse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53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86600" y="4507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Memória Operacional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446520" y="5074920"/>
            <a:ext cx="5029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Garantem que nenhuma informação se perca entre comercial e operacional. Histórico 100% íntegro.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14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03 · PILAR 3 DE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Orquestração e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Integração Total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66420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8C4"/>
                </a:solidFill>
              </a:rPr>
              <a:t>A tecnologia não pode ser uma ilha isolada.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8C4"/>
                </a:solidFill>
              </a:rPr>
              <a:t>A PIXT garante que tudo fale entre si — do primeiro contato até a entrega.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1783080" cy="100584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8529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CRM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8C4"/>
                </a:solidFill>
              </a:rPr>
              <a:t>Gestão de leads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286000" y="3200400"/>
            <a:ext cx="475488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3044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61488" y="2743200"/>
            <a:ext cx="1783080" cy="100584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1488" y="28529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WhatsApp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Instagram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61488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8C4"/>
                </a:solidFill>
              </a:rPr>
              <a:t>Canal de vendas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44568" y="3200400"/>
            <a:ext cx="475488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44568" y="3044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0056" y="2743200"/>
            <a:ext cx="1783080" cy="100584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0056" y="28529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ERP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0056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8C4"/>
                </a:solidFill>
              </a:rPr>
              <a:t>Operação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803136" y="3200400"/>
            <a:ext cx="475488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03136" y="3044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78624" y="2743200"/>
            <a:ext cx="1783080" cy="100584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78624" y="28529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Gateway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Pagamento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78624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8C4"/>
                </a:solidFill>
              </a:rPr>
              <a:t>Financeiro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61704" y="3200400"/>
            <a:ext cx="475488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61704" y="30449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37192" y="2743200"/>
            <a:ext cx="1783080" cy="100584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37192" y="28529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Equipe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EB6"/>
                </a:solidFill>
              </a:rPr>
              <a:t>Humana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537192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8C4"/>
                </a:solidFill>
              </a:rPr>
              <a:t>Onde importa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02920" y="4069080"/>
            <a:ext cx="11183112" cy="914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00400" y="3931920"/>
            <a:ext cx="5788152" cy="7315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0" y="3931920"/>
            <a:ext cx="5788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B"/>
                </a:solidFill>
              </a:rPr>
              <a:t>PIXT — Camada de Orquestração Inteligente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0292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+ Sincronização Total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Informação flui sem barreiras entre todos os sistemas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398264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+ Zero Trabalho Invisível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398264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Automatizamos o "copiar e colar" que consome horas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293608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+ Escala 10x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93608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Suporta volume 10x maior sem aumentar equipe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15 / 30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62847"/>
                </a:solidFill>
              </a:rPr>
              <a:t>04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Nossas Soluções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8862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EB6"/>
                </a:solidFill>
              </a:rPr>
              <a:t>Escolha o agente certo para o seu problema.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846320"/>
            <a:ext cx="1965960" cy="54864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46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142B"/>
                </a:solidFill>
              </a:rPr>
              <a:t>Vendas+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4846320"/>
            <a:ext cx="1965960" cy="54864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846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EB6"/>
                </a:solidFill>
              </a:rPr>
              <a:t>LeadFlow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83480" y="4846320"/>
            <a:ext cx="1965960" cy="54864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4846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EB6"/>
                </a:solidFill>
              </a:rPr>
              <a:t>Booker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0" y="4846320"/>
            <a:ext cx="1965960" cy="54864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4846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EB6"/>
                </a:solidFill>
              </a:rPr>
              <a:t>ExpertAI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64040" y="4846320"/>
            <a:ext cx="1965960" cy="548640"/>
          </a:xfrm>
          <a:prstGeom prst="rect">
            <a:avLst/>
          </a:prstGeom>
          <a:solidFill>
            <a:srgbClr val="162847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4846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EB6"/>
                </a:solidFill>
              </a:rPr>
              <a:t>Personalizadas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16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04 · SOLUÇÃO 1 DE 5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Vendas+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O agente vendedor que trabalha 24/7 — do atendimento ao pagamento, sem intervenção humana.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121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●  Fechamento Financeiro Integrado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578608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Gera links de pagamento e faturas automaticamente dentro da conversa, via API (Asaas e outros gateways).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46520" y="2121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●  Gestão de Dados em Tempo Real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578608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Registra cada interação e status do lead no Supabase. Você tem controle total do funil — sempre atualizado.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0690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4270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●  Operação 24/7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4727448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Atua no WhatsApp, Instagram ou site. Nenhum lead fica sem resposta — nem à meia-noite, nem no fim de semana.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40690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46520" y="4270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●  Processo Ponta a Ponta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46520" y="4727448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Do primeiro contato ao pagamento confirmado, o agente conduz o cliente por toda a jornada de compra sozinho.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61120" y="384048"/>
            <a:ext cx="2743200" cy="5029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0" y="3840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Produto Principal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17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04 · SOLUÇÃO 2 DE 5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LeadFlow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Otimize o tempo do seu time de vendas. Deixe a triagem pesada com nossa 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6858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1965960"/>
            <a:ext cx="73152" cy="13258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1305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●  Qualificação Técnica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5603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Entende se o lead tem o perfil ideal ANTES de passar para o closer. Zero tempo desperdiçado com leads frios.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474720"/>
            <a:ext cx="6858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3474720"/>
            <a:ext cx="73152" cy="13258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6393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●  Operação de CRM Autônoma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406908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Preenche dados, cria registros e arrasta cards de leads entre etapas do CRM sem intervenção humana.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4983480"/>
            <a:ext cx="6858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" y="4983480"/>
            <a:ext cx="73152" cy="13258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51480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●  Follow-up Ativo e Estratégico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5577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Se o lead esfriar, a IA retoma o contato de forma inteligente. Nenhuma oportunidade perdida por falta de atenção.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0" y="1920240"/>
            <a:ext cx="3931920" cy="457200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AEB6"/>
                </a:solidFill>
              </a:rPr>
              <a:t>↑ 3x</a:t>
            </a:r>
            <a:endParaRPr lang="en-US" sz="6000" dirty="0"/>
          </a:p>
        </p:txBody>
      </p:sp>
      <p:sp>
        <p:nvSpPr>
          <p:cNvPr id="22" name="Text 19"/>
          <p:cNvSpPr/>
          <p:nvPr/>
        </p:nvSpPr>
        <p:spPr>
          <a:xfrm>
            <a:off x="7772400" y="3520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mais reuniões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qualificadas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por semana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412480" y="4754880"/>
            <a:ext cx="2651760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4937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sem aumentar o time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de closers.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18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04 · SOLUÇÃO 3 DE 5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Booker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Elimine o gargalo logístico de marcar reuniões. O agente conversa, filtra e agenda.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5394960" cy="416052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1920240"/>
            <a:ext cx="5394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103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problema que resolve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670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670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Reuniões desmarcadas por falta de follow-up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3447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0120" y="34472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Leads qualificados esperando uma resposta manual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42245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Sua agenda ocupada com reuniões não qualificadas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5800" y="5001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✗ 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5001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Tempo de resposta lento que esfria o interesse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1920240"/>
            <a:ext cx="5394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1920240"/>
            <a:ext cx="5394960" cy="7315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2103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Como o Booker funciona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37960" y="2670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12280" y="2670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Conversa com o lead e entende sua necessidade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37960" y="34472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 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12280" y="34472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Filtra se o lead tem perfil para ocupar sua agenda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37960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 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12280" y="42245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Consulta sua disponibilidade em tempo real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537960" y="5001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 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12280" y="50017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Marca, confirma e envia lembretes automaticamente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19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04 · SOLUÇÃO 4 DE 5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ExpertAI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8C4"/>
                </a:solidFill>
              </a:rPr>
              <a:t>Um suporte técnico que realmente resolve — sem respostas genéricas.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8C4"/>
                </a:solidFill>
              </a:rPr>
              <a:t>Treinamos o agente com toda a documentação e histórico da sua empresa.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3657600" cy="4114800"/>
          </a:xfrm>
          <a:prstGeom prst="rect">
            <a:avLst/>
          </a:prstGeom>
          <a:solidFill>
            <a:srgbClr val="162847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51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00AEB6"/>
                </a:solidFill>
              </a:rPr>
              <a:t>90%</a:t>
            </a:r>
            <a:endParaRPr lang="en-US" sz="7400" dirty="0"/>
          </a:p>
        </p:txBody>
      </p:sp>
      <p:sp>
        <p:nvSpPr>
          <p:cNvPr id="10" name="Text 7"/>
          <p:cNvSpPr/>
          <p:nvPr/>
        </p:nvSpPr>
        <p:spPr>
          <a:xfrm>
            <a:off x="50292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dos chamados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resolvidos pela 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8C4"/>
                </a:solidFill>
              </a:rPr>
              <a:t>sem intervenção humana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148840"/>
            <a:ext cx="7132320" cy="118872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2768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EB6"/>
                </a:solidFill>
              </a:rPr>
              <a:t>●  Tecnologia RAG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54880" y="2697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Consulta sua base de dados antes de responder. Informações técnicas 100% corretas e contextualizadas.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0" y="3520440"/>
            <a:ext cx="7132320" cy="118872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6484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EB6"/>
                </a:solidFill>
              </a:rPr>
              <a:t>●  Treinado com Seus Dados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54880" y="4069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Documentação, manuais e histórico da empresa viram o cérebro do agente.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892040"/>
            <a:ext cx="7132320" cy="118872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50200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EB6"/>
                </a:solidFill>
              </a:rPr>
              <a:t>●  Redução de Chamados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754880" y="54406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Filtra e resolve até 90% das dúvidas frequentes, liberando sua equipe para casos complexos.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04 · SOLUÇÃO 5 DE 5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50292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Automações Personalizadas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Quando o problema é único, a solução também deve ser.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828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Nossa empresa está em constante evolução. Além dos nossos agentes prontos, desenvolvemos arquiteturas de IA do zero para desafios complexos que exigem fluxos de automação exclusivos — construídos especificamente para a lógica e os processos do seu negócio.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2004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3200400"/>
            <a:ext cx="73152" cy="14173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️  Integração com ERPs Complexos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4088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Conectamos sua IA a qualquer sistema com API aberta — sem limitações de plataforma.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32004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3200400"/>
            <a:ext cx="73152" cy="14173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3364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️  Automação Financeira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64808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Emissão de notas, conciliação de pagamentos, controle de inadimplência — tudo automatizado.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8463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4846320"/>
            <a:ext cx="73152" cy="14173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" y="5010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️  Fluxos de Onboarding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04088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Do contrato assinado à entrega, cada etapa automatizada com notificações e checkpoints.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48463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4846320"/>
            <a:ext cx="73152" cy="14173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4808" y="5010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️  Gestão de Estoque e Logística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64808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Alertas automáticos, pedidos, rastreamento — sem planilhas e sem operador manual.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21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A ENGENHARIA POR TRÁS DA NOSSA INTELIGÊNCIA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Por que a PIXT é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tecnicamente superior.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11183112" cy="1325880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359152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21214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Sistema RAG (Cérebro Customizado)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54203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Todos os nossos agentes possuem um banco de dados inteligente treinado especificamente com os dados do seu negócio. Resultado: respostas precisas, pontuais e humanizadas — não respostas genéricas de prateleira.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961120" y="2395728"/>
            <a:ext cx="2560320" cy="384048"/>
          </a:xfrm>
          <a:prstGeom prst="rect">
            <a:avLst/>
          </a:prstGeom>
          <a:solidFill>
            <a:srgbClr val="0F2241"/>
          </a:solidFill>
          <a:ln w="10160">
            <a:solidFill>
              <a:srgbClr val="00AE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0" y="2395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EB6"/>
                </a:solidFill>
              </a:rPr>
              <a:t>Retrieval-Augmented Generation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11183112" cy="1325880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867912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88720" y="36301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Integração de Ecossistema (API-Open)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405079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Não somos limitados por plataformas. Se o seu sistema (CRM, ERP, Gateway) possui uma API aberta, nossa IA se conecta. Seja no WhatsApp, Telegram, Instagram ou sistemas internos corporativos.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961120" y="3904488"/>
            <a:ext cx="2560320" cy="384048"/>
          </a:xfrm>
          <a:prstGeom prst="rect">
            <a:avLst/>
          </a:prstGeom>
          <a:solidFill>
            <a:srgbClr val="0F2241"/>
          </a:solidFill>
          <a:ln w="10160">
            <a:solidFill>
              <a:srgbClr val="00AE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0" y="3904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EB6"/>
                </a:solidFill>
              </a:rPr>
              <a:t>Integração Total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" y="5029200"/>
            <a:ext cx="11183112" cy="1325880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5376672"/>
            <a:ext cx="475488" cy="47548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5376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42B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88720" y="5138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Suporte Direto com o Time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555955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Grupo exclusivo no WhatsApp para dúvidas e ajustes rápidos. Acesso direto à nossa equipe para reuniões estratégicas e suporte técnico. Não somos um produto — somos um parceiro.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961120" y="5413248"/>
            <a:ext cx="2560320" cy="384048"/>
          </a:xfrm>
          <a:prstGeom prst="rect">
            <a:avLst/>
          </a:prstGeom>
          <a:solidFill>
            <a:srgbClr val="0F2241"/>
          </a:solidFill>
          <a:ln w="10160">
            <a:solidFill>
              <a:srgbClr val="00AE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61120" y="5413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AEB6"/>
                </a:solidFill>
              </a:rPr>
              <a:t>White-Glove Support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22 / 30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 PIXT é para você se…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8C4"/>
                </a:solidFill>
              </a:rPr>
              <a:t>Dois perfis. Uma mesma missão: eliminar gargalos e criar escala.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394960" cy="4297680"/>
          </a:xfrm>
          <a:prstGeom prst="rect">
            <a:avLst/>
          </a:prstGeom>
          <a:solidFill>
            <a:srgbClr val="162847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0"/>
            <a:ext cx="5394960" cy="6400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84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42B"/>
                </a:solidFill>
              </a:rPr>
              <a:t>Público A · O Escalador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EB6"/>
                </a:solidFill>
              </a:rPr>
              <a:t>Faturamento: R$ 100k+/mês  ·  Mín. 10 funcionários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CEO, Diretores, Fundadores, Head de Operação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8130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Empresas de serviços, agências, consultorias, clínicas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3799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Possuem CRM e processos vigentes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9469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Dores: custo operacional alto, dificuldade de escala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5138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Desorganização de dados entre times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56875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4A8C4"/>
                </a:solidFill>
              </a:rPr>
              <a:t>"Sua empresa já valida o modelo — vamos escalar sem contratar mais 20 pessoas."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91072" y="2011680"/>
            <a:ext cx="5394960" cy="4297680"/>
          </a:xfrm>
          <a:prstGeom prst="rect">
            <a:avLst/>
          </a:prstGeom>
          <a:solidFill>
            <a:srgbClr val="16284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011680"/>
            <a:ext cx="53949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084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42B"/>
                </a:solidFill>
              </a:rPr>
              <a:t>Público B · O Sobrevivente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788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Faturamento: R$ 30k+/mês  ·  Mín. 3 funcionários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32461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Fundadores, microempreendedores, autônomos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8130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Clínicas, lojas, escritórios, e-commerces, agências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43799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Falta de processos comerciais/operacionais estruturados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49469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Dores: fadiga operacional, volume maior do que suporta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55138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→  Baixo nível de consciência sobre automação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2512" y="56875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4A8C4"/>
                </a:solidFill>
              </a:rPr>
              <a:t>"Você está sendo engolido pelo operacional. Vamos criar os processos que você nunca teve."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AE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23 / 30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008A90"/>
                </a:solidFill>
              </a:rPr>
              <a:t>05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 Oferta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8862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3E42"/>
                </a:solidFill>
              </a:rPr>
              <a:t>Resultados esperados, o que você recebe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3E42"/>
                </a:solidFill>
              </a:rPr>
              <a:t>e como começar ainda esta semana.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24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05 · RESULTADOS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O que acontece depois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de implementar a PIXT.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828800"/>
            <a:ext cx="73152" cy="20116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965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EB6"/>
                </a:solidFill>
              </a:rPr>
              <a:t>60–80%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Redução no tempo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de processamento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Tarefas que levavam horas passam a ser executadas em minutos — sem erros.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77640" y="2029968"/>
            <a:ext cx="1737360" cy="32004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EB6"/>
                </a:solidFill>
              </a:rPr>
              <a:t>Primeiras semanas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828800"/>
            <a:ext cx="73152" cy="20116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1965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EB6"/>
                </a:solidFill>
              </a:rPr>
              <a:t>4–6 meses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446520" y="26974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Para o ROI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ser positivo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Retorno sobre investimento comprovado em múltiplos setores e portes de empresa.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38360" y="2029968"/>
            <a:ext cx="1737360" cy="32004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38360" y="2029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EB6"/>
                </a:solidFill>
              </a:rPr>
              <a:t>Médio prazo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2920" y="4114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" y="4114800"/>
            <a:ext cx="73152" cy="20116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251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EB6"/>
                </a:solidFill>
              </a:rPr>
              <a:t>10x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85800" y="49834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Capacidade 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escala operacional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5800" y="5504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Suporte a 10x mais volume sem aumentar proporcionalmente o headcount.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977640" y="4315968"/>
            <a:ext cx="1737360" cy="32004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77640" y="4315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EB6"/>
                </a:solidFill>
              </a:rPr>
              <a:t>Estrutural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63640" y="411480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63640" y="4114800"/>
            <a:ext cx="73152" cy="201168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42519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EB6"/>
                </a:solidFill>
              </a:rPr>
              <a:t>90%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6446520" y="49834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Dos chamados 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</a:rPr>
              <a:t>suporte resolvidos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46520" y="5504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 IA filtra, responde e resolve sem precisar de intervenção humana na maioria dos casos.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738360" y="4315968"/>
            <a:ext cx="1737360" cy="32004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38360" y="4315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EB6"/>
                </a:solidFill>
              </a:rPr>
              <a:t>Contínuo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25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05 · TRANSFORMAÇÃO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 transformação que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 PIXT entrega.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83112" cy="59436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9142B"/>
                </a:solidFill>
              </a:rPr>
              <a:t>Área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91840" y="19842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9142B"/>
                </a:solidFill>
              </a:rPr>
              <a:t>Antes da PIXT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69480" y="1984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9142B"/>
                </a:solidFill>
              </a:rPr>
              <a:t>Depois da PIXT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578608"/>
            <a:ext cx="11183112" cy="59436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688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Atendimento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91840" y="2688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Manual, lento, limitado ao horário comercial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69480" y="268833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24/7, instantâneo, 100% automatizado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282696"/>
            <a:ext cx="11183112" cy="59436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3924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Qualificação de leads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91840" y="3392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Time de vendas perdendo tempo com leads frios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69480" y="33924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IA filtra, qualifica e só passa leads quentes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3986784"/>
            <a:ext cx="11183112" cy="59436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0965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Agendamento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91840" y="4096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Idas e vindas de WhatsApp para marcar reunião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69480" y="4096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Agente marca, confirma e lembra automaticamente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4690872"/>
            <a:ext cx="11183112" cy="59436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800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Dados de funil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91840" y="4800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Planilhas desatualizadas ou dados no CRM errado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69480" y="4800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CRM atualizado em tempo real pelo agente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2920" y="5394960"/>
            <a:ext cx="11183112" cy="594360"/>
          </a:xfrm>
          <a:prstGeom prst="rect">
            <a:avLst/>
          </a:prstGeom>
          <a:solidFill>
            <a:srgbClr val="0F2241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5504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Escala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291840" y="5504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Precisava contratar mais a cada crescimento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69480" y="55046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Mesmo time, volume 10x maior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6099048"/>
            <a:ext cx="11183112" cy="594360"/>
          </a:xfrm>
          <a:prstGeom prst="rect">
            <a:avLst/>
          </a:prstGeom>
          <a:solidFill>
            <a:srgbClr val="162847"/>
          </a:solidFill>
          <a:ln w="12700">
            <a:solidFill>
              <a:srgbClr val="1628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6208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Erros operacionais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91840" y="6208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Informações perdidas, retrabalho constante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69480" y="6208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FFD6"/>
                </a:solidFill>
              </a:rPr>
              <a:t>Zero perda de dado, memória operacional íntegra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26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05 · O QUE VOCÊ RECEBE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A infraestrutura completa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72A"/>
                </a:solidFill>
              </a:rPr>
              <a:t>de escala da sua empresa.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2011680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Diagnóstico completo dos processos atuais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225856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Identificamos exatamente onde estão seus gargalos antes de qualquer implementação.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633472"/>
            <a:ext cx="77724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770632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27066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Arquitetura do novo fluxo operacional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97280" y="30175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Desenhamos a nova rota onde humano e IA se complementam perfeitamente.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392424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" y="3529584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" y="34655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Implementação do(s) agente(s) escolhido(s)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97280" y="37764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Construção e ativação do agente calibrado com a lógica do seu negócio.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4151376"/>
            <a:ext cx="77724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" y="4288536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7280" y="4224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Integração com seus sistemas atuais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97280" y="4535424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CRM, ERP, WhatsApp, Instagram, gateway — sem trocar o que já funciona.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4910328"/>
            <a:ext cx="7772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" y="5047488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97280" y="4983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Suporte direto via WhatsApp + reuniões estratégicas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097280" y="529437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Acesso ao time para ajustes rápidos e revisões mensais de performance.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2920" y="5669280"/>
            <a:ext cx="77724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4360" y="5806440"/>
            <a:ext cx="384048" cy="384048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97280" y="57424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Memória operacional e histórico íntegro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1097280" y="605332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Nenhum dado perdido entre comercial e operacional. Nunca mais.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8686800" y="1828800"/>
            <a:ext cx="3017520" cy="4572000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732520" y="2377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FFFFFF"/>
                </a:solidFill>
              </a:rPr>
              <a:t>Tudo isso por</a:t>
            </a:r>
            <a:endParaRPr lang="en-US" sz="15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FFFFFF"/>
                </a:solidFill>
              </a:rPr>
              <a:t>uma fração do custo</a:t>
            </a:r>
            <a:endParaRPr lang="en-US" sz="15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FFFFFF"/>
                </a:solidFill>
              </a:rPr>
              <a:t>de 1 funcionário.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9052560" y="3931920"/>
            <a:ext cx="2286000" cy="36576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732520" y="4114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Disponível 24/7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Sem férias. Sem erros.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8C4"/>
                </a:solidFill>
              </a:rPr>
              <a:t>Sem treinamento constante.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778240" y="5559552"/>
            <a:ext cx="2834640" cy="50292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0" y="5559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Investimento Inteligente →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27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05 · COMO COMEÇAR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Próximos Passos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8C4"/>
                </a:solidFill>
              </a:rPr>
              <a:t>3 passos simples para sua empresa começar a operar no novo padrão.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3611880" cy="402336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377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142B"/>
                </a:solidFill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142B"/>
                </a:solidFill>
              </a:rPr>
              <a:t>Diagnóstico Inicial (Gratuito)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003E42"/>
                </a:solidFill>
              </a:rPr>
              <a:t>Uma conversa de 30–45 min onde mapeamos seus processos atuais, identificamos os principais gargalos e avaliamos qual solução entrega o maior ROI para o seu negócio.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5623560"/>
            <a:ext cx="2697480" cy="347472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623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Agendar agora →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98264" y="2148840"/>
            <a:ext cx="3611880" cy="402336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8264" y="2377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5C"/>
                </a:solidFill>
              </a:rPr>
              <a:t>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535424" y="3063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Proposta e Arquitetura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35424" y="384048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Com base no diagnóstico, entregamos uma proposta personalizada com o fluxo desenhado, os agentes indicados e a projeção de resultados e retorno esperado.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55464" y="5623560"/>
            <a:ext cx="2697480" cy="34747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5464" y="5623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 até 48h →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293608" y="2148840"/>
            <a:ext cx="3611880" cy="4023360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93608" y="23774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5C"/>
                </a:solidFill>
              </a:rPr>
              <a:t>03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8430768" y="3063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Implementação e Ativação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30768" y="384048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4A8C4"/>
                </a:solidFill>
              </a:rPr>
              <a:t>Com aprovação, integramos ao seu fluxo atual sem interrupções. Seu negócio continua operando enquanto a IA é ativada em paralelo, testada e calibrada.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50808" y="5623560"/>
            <a:ext cx="2697480" cy="34747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50808" y="5623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 downtime →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28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05 · POR QUE CONFIAR NA PIXT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Não somos mais uma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promessa de IA.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828800"/>
            <a:ext cx="5394960" cy="73152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0665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●  Parceiros, não fornecedores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496312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Queremos que o cliente nos veja como um parceiro estratégico. Não entregamos uma lista de ferramentas — fazemos diagnósticos, levantamos questões e construímos soluções.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828800"/>
            <a:ext cx="5394960" cy="73152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0665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●  Foco no problema, não na venda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6520" y="2496312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 PIXT odeia enrolação. Nosso foco está no problema e no caminho mais curto e eficaz para resolvê-lo. Sem discurso motivacional, sem promessas vazias.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06908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" y="4069080"/>
            <a:ext cx="5394960" cy="73152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3068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●  Humano + IA: cada um onde é mais efetivo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5800" y="4736592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Não acreditamos que a mão de obra humana deve ser substituída — deve atuar onde é mais efetiva. A IA atua onde entrega mais valor.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63640" y="406908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4069080"/>
            <a:ext cx="5394960" cy="73152"/>
          </a:xfrm>
          <a:prstGeom prst="rect">
            <a:avLst/>
          </a:prstGeom>
          <a:solidFill>
            <a:srgbClr val="09142B"/>
          </a:solidFill>
          <a:ln w="12700">
            <a:solidFill>
              <a:srgbClr val="0914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43068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●  Tecnologia robusta, não experimento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46520" y="4736592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Nossa tecnologia é testada, integrada e construída para o seu negócio específico. Não somos um bot de prateleira — somos infraestrutura de escala.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01168"/>
            <a:ext cx="128016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29 / 30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19202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B6"/>
                </a:solidFill>
              </a:rPr>
              <a:t>RESPONDENDO AS DÚVIDAS MAIS COMUNS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59436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Vamos direto ao ponto.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1078992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73152" cy="107899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783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"Vai ser difícil integrar ao que já uso?"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1671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Integramos ao seu fluxo atual sem interrupções. Se possui API aberta, nossa IA se conecta. Você não troca o que funciona — só adiciona inteligência.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926080"/>
            <a:ext cx="11183112" cy="1078992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926080"/>
            <a:ext cx="73152" cy="107899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017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"Minha equipe vai perder o emprego?"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401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Não. A PIXT libera sua equipe das tarefas repetitivas para atuarem onde o humano é insubstituível: relacionamento, criatividade e decisão estratégica.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160520"/>
            <a:ext cx="11183112" cy="1078992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60520"/>
            <a:ext cx="73152" cy="107899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251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"Quanto tempo até ver resultado?"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6360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O ROI começa a aparecer em 4 a 6 meses. Nas primeiras semanas, já se nota redução de 60-80% no tempo das tarefas automatizadas.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394960"/>
            <a:ext cx="11183112" cy="1078992"/>
          </a:xfrm>
          <a:prstGeom prst="rect">
            <a:avLst/>
          </a:prstGeom>
          <a:solidFill>
            <a:srgbClr val="162847"/>
          </a:solidFill>
          <a:ln w="12700">
            <a:solidFill>
              <a:srgbClr val="0F22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394960"/>
            <a:ext cx="73152" cy="1078992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5486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B6"/>
                </a:solidFill>
              </a:rPr>
              <a:t>"E se a IA errar?"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" y="5870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8C4"/>
                </a:solidFill>
              </a:rPr>
              <a:t>Nosso sistema RAG garante respostas baseadas nos seus dados, não em suposições genéricas. Testamos, calibramos e monitoramos cada agente após o lançamento.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7315200" cy="7315200"/>
          </a:xfrm>
          <a:prstGeom prst="ellipse">
            <a:avLst/>
          </a:prstGeom>
          <a:solidFill>
            <a:srgbClr val="00AEB6">
              <a:alpha val="8000"/>
            </a:srgbClr>
          </a:solidFill>
          <a:ln w="12700">
            <a:solidFill>
              <a:srgbClr val="00AEB6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411480"/>
            <a:ext cx="22860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 solução que você esperava.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O processo que seu negócio precisa.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8C4"/>
                </a:solidFill>
              </a:rPr>
              <a:t>Transformamos processos manuais e gargalos comerciais em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8C4"/>
                </a:solidFill>
              </a:rPr>
              <a:t>fluxos autônomos de alta performance.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160520"/>
            <a:ext cx="2743200" cy="65836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4160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Agendar Diagnóstico Gratuito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91072" y="4160520"/>
            <a:ext cx="2743200" cy="658368"/>
          </a:xfrm>
          <a:prstGeom prst="rect">
            <a:avLst/>
          </a:prstGeom>
          <a:solidFill>
            <a:srgbClr val="162847"/>
          </a:solidFill>
          <a:ln w="15240">
            <a:solidFill>
              <a:srgbClr val="00AE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4160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EB6"/>
                </a:solidFill>
              </a:rPr>
              <a:t>Falar no WhatsApp →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pixt.com.br  ·  @pixt.ia  ·  contato@pixt.com.br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142B"/>
                </a:solidFill>
              </a:rPr>
              <a:t>PIXT · Orquestração de Ponta a Ponta · O Cérebro Operacional da sua Empresa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2026-03-24T23:36:01Z</dcterms:created>
  <dcterms:modified xsi:type="dcterms:W3CDTF">2026-03-24T23:36:01Z</dcterms:modified>
</cp:coreProperties>
</file>